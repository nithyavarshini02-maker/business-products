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project as a centralized web application for small businesses. Replace the presenter and department placeholders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the application combines common business tasks into one system. The dashboard and database make records easier to access and maintain.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the manual process with the proposed application. Emphasize that the system reduces repeated work but still depends on correct validation and secure 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measurable objectives. Explain that CRUD and REST APIs are core technical outcomes, while authentication is included according to the final project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the role of each MERN component. Mongoose can define schemas and interact with MongoDB; JWT and bcrypt are optional supporting tools for authentication and password security.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each module briefly. A key business rule is to check stock before a sale and update inventory consistently when the sale is saved.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flow from React to Express and MongoDB and back. Validation belongs on the server, and related sale and inventory updates should be handled consistently.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that the system can improve organization and reduce manual effort. These are expected outcomes; actual results should be confirmed through testing. Mention advanced features as future enhancements.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869680" y="640080"/>
            <a:ext cx="2011680" cy="2011680"/>
          </a:xfrm>
          <a:prstGeom prst="ellipse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1920240"/>
            <a:ext cx="1143000" cy="1143000"/>
          </a:xfrm>
          <a:prstGeom prst="ellipse">
            <a:avLst/>
          </a:prstGeom>
          <a:solidFill>
            <a:srgbClr val="23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138160" y="2926080"/>
            <a:ext cx="914400" cy="914400"/>
          </a:xfrm>
          <a:prstGeom prst="ellipse">
            <a:avLst/>
          </a:prstGeom>
          <a:solidFill>
            <a:srgbClr val="4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777240"/>
            <a:ext cx="7132320" cy="41148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800"/>
              </a:spcAft>
              <a:defRPr sz="1300" b="1">
                <a:solidFill>
                  <a:srgbClr val="23BEBE"/>
                </a:solidFill>
                <a:latin typeface="Aptos"/>
              </a:defRPr>
            </a:pPr>
            <a:r>
              <a:t>PROJECT REPORT  |  FULL-STACK WEB DEVELOPMENT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554480"/>
            <a:ext cx="7863840" cy="150876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8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SMALL BUSINESS</a:t>
            </a:r>
          </a:p>
          <a:p>
            <a:pPr algn="l">
              <a:spcAft>
                <a:spcPts val="8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401568"/>
            <a:ext cx="6858000" cy="82296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800"/>
              </a:spcAft>
              <a:defRPr sz="1900" b="0">
                <a:solidFill>
                  <a:srgbClr val="DAE4F3"/>
                </a:solidFill>
                <a:latin typeface="Aptos"/>
              </a:defRPr>
            </a:pPr>
            <a:r>
              <a:t>A MERN Stack application to manage products,</a:t>
            </a:r>
          </a:p>
          <a:p>
            <a:pPr algn="l">
              <a:spcAft>
                <a:spcPts val="800"/>
              </a:spcAft>
              <a:defRPr sz="1900" b="0">
                <a:solidFill>
                  <a:srgbClr val="DAE4F3"/>
                </a:solidFill>
                <a:latin typeface="Aptos"/>
              </a:defRPr>
            </a:pPr>
            <a:r>
              <a:t>customers, inventory, and sales in one place.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736592"/>
            <a:ext cx="1417320" cy="411480"/>
          </a:xfrm>
          <a:prstGeom prst="roundRect">
            <a:avLst/>
          </a:prstGeom>
          <a:solidFill>
            <a:srgbClr val="2D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809744"/>
            <a:ext cx="1325880" cy="22860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12203A"/>
                </a:solidFill>
                <a:latin typeface="Aptos"/>
              </a:defRPr>
            </a:pPr>
            <a:r>
              <a:t>MongoDB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95728" y="4736592"/>
            <a:ext cx="14173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41448" y="4809744"/>
            <a:ext cx="1325880" cy="22860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12203A"/>
                </a:solidFill>
                <a:latin typeface="Aptos"/>
              </a:defRPr>
            </a:pPr>
            <a:r>
              <a:t>Express.js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68496" y="4736592"/>
            <a:ext cx="1417320" cy="411480"/>
          </a:xfrm>
          <a:prstGeom prst="roundRect">
            <a:avLst/>
          </a:prstGeom>
          <a:solidFill>
            <a:srgbClr val="23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14215" y="4809744"/>
            <a:ext cx="1325880" cy="22860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12203A"/>
                </a:solidFill>
                <a:latin typeface="Aptos"/>
              </a:defRPr>
            </a:pPr>
            <a:r>
              <a:t>React.js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41264" y="4736592"/>
            <a:ext cx="1417320" cy="411480"/>
          </a:xfrm>
          <a:prstGeom prst="round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86983" y="4809744"/>
            <a:ext cx="1325880" cy="22860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Node.js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989320"/>
            <a:ext cx="6766560" cy="32004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800"/>
              </a:spcAft>
              <a:defRPr sz="1200" b="0">
                <a:solidFill>
                  <a:srgbClr val="B4C4DC"/>
                </a:solidFill>
                <a:latin typeface="Aptos"/>
              </a:defRPr>
            </a:pPr>
            <a:r>
              <a:t>Presented by: Your Name  |  Department: Your Department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800"/>
              </a:spcAft>
              <a:defRPr sz="2700" b="1">
                <a:solidFill>
                  <a:srgbClr val="12203A"/>
                </a:solidFill>
                <a:latin typeface="Aptos"/>
              </a:defRPr>
            </a:pPr>
            <a:r>
              <a:t>01  |  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960120"/>
            <a:ext cx="960120" cy="54864"/>
          </a:xfrm>
          <a:prstGeom prst="rect">
            <a:avLst/>
          </a:prstGeom>
          <a:solidFill>
            <a:srgbClr val="23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502920" cy="20116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5F6D8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607040" cy="65836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800"/>
              </a:spcAft>
              <a:defRPr sz="2000" b="1">
                <a:solidFill>
                  <a:srgbClr val="232D3E"/>
                </a:solidFill>
                <a:latin typeface="Aptos"/>
              </a:defRPr>
            </a:pPr>
            <a:r>
              <a:t>Small businesses need a simple way to organize everyday records without relying on scattered notebooks or spreadsheets.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31720"/>
            <a:ext cx="34290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E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331720"/>
            <a:ext cx="73152" cy="1920240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496312"/>
            <a:ext cx="3063240" cy="347472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12203A"/>
                </a:solidFill>
                <a:latin typeface="Aptos"/>
              </a:defRPr>
            </a:pPr>
            <a:r>
              <a:t>Centralized records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953512"/>
            <a:ext cx="3063240" cy="120700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5F6D82"/>
                </a:solidFill>
                <a:latin typeface="Aptos"/>
              </a:defRPr>
            </a:pPr>
            <a:r>
              <a:t>Keep product, customer, and sales information in one application.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331720"/>
            <a:ext cx="34290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E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331720"/>
            <a:ext cx="73152" cy="1920240"/>
          </a:xfrm>
          <a:prstGeom prst="rect">
            <a:avLst/>
          </a:prstGeom>
          <a:solidFill>
            <a:srgbClr val="23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2496312"/>
            <a:ext cx="3063240" cy="347472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12203A"/>
                </a:solidFill>
                <a:latin typeface="Aptos"/>
              </a:defRPr>
            </a:pPr>
            <a:r>
              <a:t>Faster workflows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953512"/>
            <a:ext cx="3063240" cy="120700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5F6D82"/>
                </a:solidFill>
                <a:latin typeface="Aptos"/>
              </a:defRPr>
            </a:pPr>
            <a:r>
              <a:t>Create, view, and update records through a clear web interface.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331720"/>
            <a:ext cx="34290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E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2331720"/>
            <a:ext cx="73152" cy="1920240"/>
          </a:xfrm>
          <a:prstGeom prst="rect">
            <a:avLst/>
          </a:prstGeom>
          <a:solidFill>
            <a:srgbClr val="2D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2496312"/>
            <a:ext cx="3063240" cy="347472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12203A"/>
                </a:solidFill>
                <a:latin typeface="Aptos"/>
              </a:defRPr>
            </a:pPr>
            <a:r>
              <a:t>Better visibility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953512"/>
            <a:ext cx="3063240" cy="120700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5F6D82"/>
                </a:solidFill>
                <a:latin typeface="Aptos"/>
              </a:defRPr>
            </a:pPr>
            <a:r>
              <a:t>Use a dashboard to understand stock and sales activity.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892040"/>
            <a:ext cx="10515600" cy="73152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800"/>
              </a:spcAft>
              <a:defRPr sz="2100" b="1">
                <a:solidFill>
                  <a:srgbClr val="2663EB"/>
                </a:solidFill>
                <a:latin typeface="Aptos"/>
              </a:defRPr>
            </a:pPr>
            <a:r>
              <a:t>Main goal: make daily business record-keeping more efficient, accurate, and accessible.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800"/>
              </a:spcAft>
              <a:defRPr sz="2700" b="1">
                <a:solidFill>
                  <a:srgbClr val="12203A"/>
                </a:solidFill>
                <a:latin typeface="Aptos"/>
              </a:defRPr>
            </a:pPr>
            <a:r>
              <a:t>02  |  Problem Statement &amp; Proposed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960120"/>
            <a:ext cx="960120" cy="54864"/>
          </a:xfrm>
          <a:prstGeom prst="rect">
            <a:avLst/>
          </a:prstGeom>
          <a:solidFill>
            <a:srgbClr val="23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502920" cy="20116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5F6D8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0749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E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73152" cy="4206240"/>
          </a:xfrm>
          <a:prstGeom prst="rect">
            <a:avLst/>
          </a:prstGeom>
          <a:solidFill>
            <a:srgbClr val="E6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581912"/>
            <a:ext cx="4709159" cy="347472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800"/>
              </a:spcAft>
              <a:defRPr sz="2000" b="1">
                <a:solidFill>
                  <a:srgbClr val="12203A"/>
                </a:solidFill>
                <a:latin typeface="Aptos"/>
              </a:defRPr>
            </a:pPr>
            <a:r>
              <a:t>Current challenges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039112"/>
            <a:ext cx="4709159" cy="3493007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5F6D82"/>
                </a:solidFill>
                <a:latin typeface="Aptos"/>
              </a:defRPr>
            </a:pPr>
            <a:r>
              <a:t>• Manual tracking takes time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5F6D82"/>
                </a:solidFill>
                <a:latin typeface="Aptos"/>
              </a:defRPr>
            </a:pPr>
          </a:p>
          <a:p>
            <a:pPr algn="l">
              <a:spcAft>
                <a:spcPts val="800"/>
              </a:spcAft>
              <a:defRPr sz="1600" b="0">
                <a:solidFill>
                  <a:srgbClr val="5F6D82"/>
                </a:solidFill>
                <a:latin typeface="Aptos"/>
              </a:defRPr>
            </a:pPr>
            <a:r>
              <a:t>• Stock quantities can become outdated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5F6D82"/>
                </a:solidFill>
                <a:latin typeface="Aptos"/>
              </a:defRPr>
            </a:pPr>
          </a:p>
          <a:p>
            <a:pPr algn="l">
              <a:spcAft>
                <a:spcPts val="800"/>
              </a:spcAft>
              <a:defRPr sz="1600" b="0">
                <a:solidFill>
                  <a:srgbClr val="5F6D82"/>
                </a:solidFill>
                <a:latin typeface="Aptos"/>
              </a:defRPr>
            </a:pPr>
            <a:r>
              <a:t>• Sales totals may contain calculation errors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5F6D82"/>
                </a:solidFill>
                <a:latin typeface="Aptos"/>
              </a:defRPr>
            </a:pPr>
          </a:p>
          <a:p>
            <a:pPr algn="l">
              <a:spcAft>
                <a:spcPts val="800"/>
              </a:spcAft>
              <a:defRPr sz="1600" b="0">
                <a:solidFill>
                  <a:srgbClr val="5F6D82"/>
                </a:solidFill>
                <a:latin typeface="Aptos"/>
              </a:defRPr>
            </a:pPr>
            <a:r>
              <a:t>• Customer details are difficult to organize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5F6D82"/>
                </a:solidFill>
                <a:latin typeface="Aptos"/>
              </a:defRPr>
            </a:pPr>
          </a:p>
          <a:p>
            <a:pPr algn="l">
              <a:spcAft>
                <a:spcPts val="800"/>
              </a:spcAft>
              <a:defRPr sz="1600" b="0">
                <a:solidFill>
                  <a:srgbClr val="5F6D82"/>
                </a:solidFill>
                <a:latin typeface="Aptos"/>
              </a:defRPr>
            </a:pPr>
            <a:r>
              <a:t>• Records are spread across different files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417320"/>
            <a:ext cx="50749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E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417320"/>
            <a:ext cx="73152" cy="4206240"/>
          </a:xfrm>
          <a:prstGeom prst="rect">
            <a:avLst/>
          </a:prstGeom>
          <a:solidFill>
            <a:srgbClr val="2D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6248" y="1581912"/>
            <a:ext cx="4709159" cy="347472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800"/>
              </a:spcAft>
              <a:defRPr sz="2000" b="1">
                <a:solidFill>
                  <a:srgbClr val="12203A"/>
                </a:solidFill>
                <a:latin typeface="Aptos"/>
              </a:defRPr>
            </a:pPr>
            <a:r>
              <a:t>Proposed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2039112"/>
            <a:ext cx="4709159" cy="3493007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5F6D82"/>
                </a:solidFill>
                <a:latin typeface="Aptos"/>
              </a:defRPr>
            </a:pPr>
            <a:r>
              <a:t>• Build one browser-based management system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5F6D82"/>
                </a:solidFill>
                <a:latin typeface="Aptos"/>
              </a:defRPr>
            </a:pPr>
          </a:p>
          <a:p>
            <a:pPr algn="l">
              <a:spcAft>
                <a:spcPts val="800"/>
              </a:spcAft>
              <a:defRPr sz="1600" b="0">
                <a:solidFill>
                  <a:srgbClr val="5F6D82"/>
                </a:solidFill>
                <a:latin typeface="Aptos"/>
              </a:defRPr>
            </a:pPr>
            <a:r>
              <a:t>• Store records in MongoDB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5F6D82"/>
                </a:solidFill>
                <a:latin typeface="Aptos"/>
              </a:defRPr>
            </a:pPr>
          </a:p>
          <a:p>
            <a:pPr algn="l">
              <a:spcAft>
                <a:spcPts val="800"/>
              </a:spcAft>
              <a:defRPr sz="1600" b="0">
                <a:solidFill>
                  <a:srgbClr val="5F6D82"/>
                </a:solidFill>
                <a:latin typeface="Aptos"/>
              </a:defRPr>
            </a:pPr>
            <a:r>
              <a:t>• Provide CRUD features for key records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5F6D82"/>
                </a:solidFill>
                <a:latin typeface="Aptos"/>
              </a:defRPr>
            </a:pPr>
          </a:p>
          <a:p>
            <a:pPr algn="l">
              <a:spcAft>
                <a:spcPts val="800"/>
              </a:spcAft>
              <a:defRPr sz="1600" b="0">
                <a:solidFill>
                  <a:srgbClr val="5F6D82"/>
                </a:solidFill>
                <a:latin typeface="Aptos"/>
              </a:defRPr>
            </a:pPr>
            <a:r>
              <a:t>• Calculate sales totals and update stock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5F6D82"/>
                </a:solidFill>
                <a:latin typeface="Aptos"/>
              </a:defRPr>
            </a:pPr>
          </a:p>
          <a:p>
            <a:pPr algn="l">
              <a:spcAft>
                <a:spcPts val="800"/>
              </a:spcAft>
              <a:defRPr sz="1600" b="0">
                <a:solidFill>
                  <a:srgbClr val="5F6D82"/>
                </a:solidFill>
                <a:latin typeface="Aptos"/>
              </a:defRPr>
            </a:pPr>
            <a:r>
              <a:t>• Add authentication and roles where required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870448"/>
            <a:ext cx="10241280" cy="347472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>
              <a:spcAft>
                <a:spcPts val="800"/>
              </a:spcAft>
              <a:defRPr sz="1700" b="1">
                <a:solidFill>
                  <a:srgbClr val="12203A"/>
                </a:solidFill>
                <a:latin typeface="Aptos"/>
              </a:defRPr>
            </a:pPr>
            <a:r>
              <a:t>Outcome: a more organized, consistent, and manageable business workflow.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800"/>
              </a:spcAft>
              <a:defRPr sz="2700" b="1">
                <a:solidFill>
                  <a:srgbClr val="12203A"/>
                </a:solidFill>
                <a:latin typeface="Aptos"/>
              </a:defRPr>
            </a:pPr>
            <a:r>
              <a:t>03  |  Project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960120"/>
            <a:ext cx="960120" cy="54864"/>
          </a:xfrm>
          <a:prstGeom prst="rect">
            <a:avLst/>
          </a:prstGeom>
          <a:solidFill>
            <a:srgbClr val="23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502920" cy="20116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5F6D82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3375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E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73152" cy="1691640"/>
          </a:xfrm>
          <a:prstGeom prst="rect">
            <a:avLst/>
          </a:prstGeom>
          <a:solidFill>
            <a:srgbClr val="23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581912"/>
            <a:ext cx="2971800" cy="347472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01  Demonstrate MERN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039112"/>
            <a:ext cx="2971800" cy="97840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800"/>
              </a:spcAft>
              <a:defRPr sz="1200" b="0">
                <a:solidFill>
                  <a:srgbClr val="5F6D82"/>
                </a:solidFill>
                <a:latin typeface="Aptos"/>
              </a:defRPr>
            </a:pPr>
            <a:r>
              <a:t>Connect React, Express, Node.js, and MongoDB.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417320"/>
            <a:ext cx="33375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E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417320"/>
            <a:ext cx="73152" cy="1691640"/>
          </a:xfrm>
          <a:prstGeom prst="rect">
            <a:avLst/>
          </a:prstGeom>
          <a:solidFill>
            <a:srgbClr val="2D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1581912"/>
            <a:ext cx="2971800" cy="347472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02  Implement CRUD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039112"/>
            <a:ext cx="2971800" cy="97840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800"/>
              </a:spcAft>
              <a:defRPr sz="1200" b="0">
                <a:solidFill>
                  <a:srgbClr val="5F6D82"/>
                </a:solidFill>
                <a:latin typeface="Aptos"/>
              </a:defRPr>
            </a:pPr>
            <a:r>
              <a:t>Create, read, update, and delete records.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417320"/>
            <a:ext cx="33375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E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417320"/>
            <a:ext cx="73152" cy="1691640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8" y="1581912"/>
            <a:ext cx="2971800" cy="347472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03  Build REST APIs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2039112"/>
            <a:ext cx="2971800" cy="97840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800"/>
              </a:spcAft>
              <a:defRPr sz="1200" b="0">
                <a:solidFill>
                  <a:srgbClr val="5F6D82"/>
                </a:solidFill>
                <a:latin typeface="Aptos"/>
              </a:defRPr>
            </a:pPr>
            <a:r>
              <a:t>Handle requests with clear backend endpoints.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657600"/>
            <a:ext cx="33375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E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3657600"/>
            <a:ext cx="73152" cy="1691640"/>
          </a:xfrm>
          <a:prstGeom prst="rect">
            <a:avLst/>
          </a:prstGeom>
          <a:solidFill>
            <a:srgbClr val="23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22191"/>
            <a:ext cx="2971800" cy="347472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04  Manage business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279392"/>
            <a:ext cx="2971800" cy="97840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800"/>
              </a:spcAft>
              <a:defRPr sz="1200" b="0">
                <a:solidFill>
                  <a:srgbClr val="5F6D82"/>
                </a:solidFill>
                <a:latin typeface="Aptos"/>
              </a:defRPr>
            </a:pPr>
            <a:r>
              <a:t>Maintain products, customers, and sales.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657600"/>
            <a:ext cx="33375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E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657600"/>
            <a:ext cx="73152" cy="1691640"/>
          </a:xfrm>
          <a:prstGeom prst="rect">
            <a:avLst/>
          </a:prstGeom>
          <a:solidFill>
            <a:srgbClr val="2D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36007" y="3822191"/>
            <a:ext cx="2971800" cy="347472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05  Protect access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36007" y="4279392"/>
            <a:ext cx="2971800" cy="97840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800"/>
              </a:spcAft>
              <a:defRPr sz="1200" b="0">
                <a:solidFill>
                  <a:srgbClr val="5F6D82"/>
                </a:solidFill>
                <a:latin typeface="Aptos"/>
              </a:defRPr>
            </a:pPr>
            <a:r>
              <a:t>Add login and role-based authorization where needed.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3657600"/>
            <a:ext cx="33375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E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60" y="3657600"/>
            <a:ext cx="73152" cy="1691640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39328" y="3822191"/>
            <a:ext cx="2971800" cy="347472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12203A"/>
                </a:solidFill>
                <a:latin typeface="Aptos"/>
              </a:defRPr>
            </a:pPr>
            <a:r>
              <a:t>06  Present results clearly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9328" y="4279392"/>
            <a:ext cx="2971800" cy="97840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800"/>
              </a:spcAft>
              <a:defRPr sz="1200" b="0">
                <a:solidFill>
                  <a:srgbClr val="5F6D82"/>
                </a:solidFill>
                <a:latin typeface="Aptos"/>
              </a:defRPr>
            </a:pPr>
            <a:r>
              <a:t>Show key information in a simple dashboard.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800"/>
              </a:spcAft>
              <a:defRPr sz="2700" b="1">
                <a:solidFill>
                  <a:srgbClr val="12203A"/>
                </a:solidFill>
                <a:latin typeface="Aptos"/>
              </a:defRPr>
            </a:pPr>
            <a:r>
              <a:t>04  |  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960120"/>
            <a:ext cx="960120" cy="54864"/>
          </a:xfrm>
          <a:prstGeom prst="rect">
            <a:avLst/>
          </a:prstGeom>
          <a:solidFill>
            <a:srgbClr val="23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502920" cy="20116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5F6D82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325880"/>
            <a:ext cx="713232" cy="713232"/>
          </a:xfrm>
          <a:prstGeom prst="ellipse">
            <a:avLst/>
          </a:prstGeom>
          <a:solidFill>
            <a:srgbClr val="2D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1453895"/>
            <a:ext cx="694944" cy="38404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344168"/>
            <a:ext cx="2331720" cy="32004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800"/>
              </a:spcAft>
              <a:defRPr sz="2000" b="1">
                <a:solidFill>
                  <a:srgbClr val="12203A"/>
                </a:solidFill>
                <a:latin typeface="Aptos"/>
              </a:defRPr>
            </a:pPr>
            <a:r>
              <a:t>MongoDB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1362456"/>
            <a:ext cx="2057400" cy="27432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800"/>
              </a:spcAft>
              <a:defRPr sz="1400" b="1">
                <a:solidFill>
                  <a:srgbClr val="2663EB"/>
                </a:solidFill>
                <a:latin typeface="Aptos"/>
              </a:defRPr>
            </a:pPr>
            <a:r>
              <a:t>Database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362456"/>
            <a:ext cx="5029200" cy="59436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5F6D82"/>
                </a:solidFill>
                <a:latin typeface="Aptos"/>
              </a:defRPr>
            </a:pPr>
            <a:r>
              <a:t>Stores products, customers, sales, and users.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2496312"/>
            <a:ext cx="713232" cy="713232"/>
          </a:xfrm>
          <a:prstGeom prst="ellipse">
            <a:avLst/>
          </a:prstGeom>
          <a:solidFill>
            <a:srgbClr val="23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624328"/>
            <a:ext cx="694944" cy="38404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514600"/>
            <a:ext cx="2331720" cy="32004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800"/>
              </a:spcAft>
              <a:defRPr sz="2000" b="1">
                <a:solidFill>
                  <a:srgbClr val="12203A"/>
                </a:solidFill>
                <a:latin typeface="Aptos"/>
              </a:defRPr>
            </a:pPr>
            <a:r>
              <a:t>Express.js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2532888"/>
            <a:ext cx="2057400" cy="27432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800"/>
              </a:spcAft>
              <a:defRPr sz="1400" b="1">
                <a:solidFill>
                  <a:srgbClr val="2663EB"/>
                </a:solidFill>
                <a:latin typeface="Aptos"/>
              </a:defRPr>
            </a:pPr>
            <a:r>
              <a:t>Backend framework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532888"/>
            <a:ext cx="5029200" cy="59436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5F6D82"/>
                </a:solidFill>
                <a:latin typeface="Aptos"/>
              </a:defRPr>
            </a:pPr>
            <a:r>
              <a:t>Defines API routes and request handling.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3666744"/>
            <a:ext cx="713232" cy="713232"/>
          </a:xfrm>
          <a:prstGeom prst="ellipse">
            <a:avLst/>
          </a:prstGeom>
          <a:solidFill>
            <a:srgbClr val="23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" y="3794759"/>
            <a:ext cx="694944" cy="38404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685031"/>
            <a:ext cx="2331720" cy="32004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800"/>
              </a:spcAft>
              <a:defRPr sz="2000" b="1">
                <a:solidFill>
                  <a:srgbClr val="12203A"/>
                </a:solidFill>
                <a:latin typeface="Aptos"/>
              </a:defRPr>
            </a:pPr>
            <a:r>
              <a:t>React.js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0520" y="3703320"/>
            <a:ext cx="2057400" cy="27432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800"/>
              </a:spcAft>
              <a:defRPr sz="1400" b="1">
                <a:solidFill>
                  <a:srgbClr val="2663EB"/>
                </a:solidFill>
                <a:latin typeface="Aptos"/>
              </a:defRPr>
            </a:pPr>
            <a:r>
              <a:t>Frontend library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3703320"/>
            <a:ext cx="5029200" cy="59436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5F6D82"/>
                </a:solidFill>
                <a:latin typeface="Aptos"/>
              </a:defRPr>
            </a:pPr>
            <a:r>
              <a:t>Builds forms, tables, and dashboard components.</a:t>
            </a:r>
          </a:p>
        </p:txBody>
      </p:sp>
      <p:sp>
        <p:nvSpPr>
          <p:cNvPr id="21" name="Oval 20"/>
          <p:cNvSpPr/>
          <p:nvPr/>
        </p:nvSpPr>
        <p:spPr>
          <a:xfrm>
            <a:off x="822960" y="4837176"/>
            <a:ext cx="713232" cy="713232"/>
          </a:xfrm>
          <a:prstGeom prst="ellipse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" y="4965192"/>
            <a:ext cx="694944" cy="38404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855464"/>
            <a:ext cx="2331720" cy="32004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800"/>
              </a:spcAft>
              <a:defRPr sz="2000" b="1">
                <a:solidFill>
                  <a:srgbClr val="12203A"/>
                </a:solidFill>
                <a:latin typeface="Aptos"/>
              </a:defRPr>
            </a:pPr>
            <a:r>
              <a:t>Node.js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0520" y="4873752"/>
            <a:ext cx="2057400" cy="27432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800"/>
              </a:spcAft>
              <a:defRPr sz="1400" b="1">
                <a:solidFill>
                  <a:srgbClr val="2663EB"/>
                </a:solidFill>
                <a:latin typeface="Aptos"/>
              </a:defRPr>
            </a:pPr>
            <a:r>
              <a:t>JavaScript runtime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4873752"/>
            <a:ext cx="5029200" cy="59436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5F6D82"/>
                </a:solidFill>
                <a:latin typeface="Aptos"/>
              </a:defRPr>
            </a:pPr>
            <a:r>
              <a:t>Runs backend logic and server processes.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6144768"/>
            <a:ext cx="10241280" cy="27432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>
              <a:spcAft>
                <a:spcPts val="800"/>
              </a:spcAft>
              <a:defRPr sz="1400" b="1">
                <a:solidFill>
                  <a:srgbClr val="12203A"/>
                </a:solidFill>
                <a:latin typeface="Aptos"/>
              </a:defRPr>
            </a:pPr>
            <a:r>
              <a:t>Typical supporting tools: Mongoose, REST/JSON, JWT, and bcrypt.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800"/>
              </a:spcAft>
              <a:defRPr sz="2700" b="1">
                <a:solidFill>
                  <a:srgbClr val="12203A"/>
                </a:solidFill>
                <a:latin typeface="Aptos"/>
              </a:defRPr>
            </a:pPr>
            <a:r>
              <a:t>05  |  Main Modules &amp;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960120"/>
            <a:ext cx="960120" cy="54864"/>
          </a:xfrm>
          <a:prstGeom prst="rect">
            <a:avLst/>
          </a:prstGeom>
          <a:solidFill>
            <a:srgbClr val="23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502920" cy="20116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5F6D82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2120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E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73152" cy="1965960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490472"/>
            <a:ext cx="4846320" cy="347472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800"/>
              </a:spcAft>
              <a:defRPr sz="1800" b="1">
                <a:solidFill>
                  <a:srgbClr val="12203A"/>
                </a:solidFill>
                <a:latin typeface="Aptos"/>
              </a:defRPr>
            </a:pPr>
            <a:r>
              <a:t>Product &amp; Inventory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947672"/>
            <a:ext cx="4846320" cy="125272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5F6D82"/>
                </a:solidFill>
                <a:latin typeface="Aptos"/>
              </a:defRPr>
            </a:pPr>
            <a:r>
              <a:t>• Add, view, edit, delete, and search products</a:t>
            </a:r>
          </a:p>
          <a:p>
            <a:pPr algn="l">
              <a:spcAft>
                <a:spcPts val="800"/>
              </a:spcAft>
              <a:defRPr sz="1400" b="0">
                <a:solidFill>
                  <a:srgbClr val="5F6D82"/>
                </a:solidFill>
                <a:latin typeface="Aptos"/>
              </a:defRPr>
            </a:pPr>
            <a:r>
              <a:t>• Maintain price, SKU, category, and stock quantity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25880"/>
            <a:ext cx="52120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E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325880"/>
            <a:ext cx="73152" cy="1965960"/>
          </a:xfrm>
          <a:prstGeom prst="rect">
            <a:avLst/>
          </a:prstGeom>
          <a:solidFill>
            <a:srgbClr val="23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490472"/>
            <a:ext cx="4846320" cy="347472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800"/>
              </a:spcAft>
              <a:defRPr sz="1800" b="1">
                <a:solidFill>
                  <a:srgbClr val="12203A"/>
                </a:solidFill>
                <a:latin typeface="Aptos"/>
              </a:defRPr>
            </a:pPr>
            <a:r>
              <a:t>Customer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947672"/>
            <a:ext cx="4846320" cy="125272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5F6D82"/>
                </a:solidFill>
                <a:latin typeface="Aptos"/>
              </a:defRPr>
            </a:pPr>
            <a:r>
              <a:t>• Save customer names and contact details</a:t>
            </a:r>
          </a:p>
          <a:p>
            <a:pPr algn="l">
              <a:spcAft>
                <a:spcPts val="800"/>
              </a:spcAft>
              <a:defRPr sz="1400" b="0">
                <a:solidFill>
                  <a:srgbClr val="5F6D82"/>
                </a:solidFill>
                <a:latin typeface="Aptos"/>
              </a:defRPr>
            </a:pPr>
            <a:r>
              <a:t>• Update and search customer records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611880"/>
            <a:ext cx="52120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E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611880"/>
            <a:ext cx="73152" cy="1965960"/>
          </a:xfrm>
          <a:prstGeom prst="rect">
            <a:avLst/>
          </a:prstGeom>
          <a:solidFill>
            <a:srgbClr val="2D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4846320" cy="347472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800"/>
              </a:spcAft>
              <a:defRPr sz="1800" b="1">
                <a:solidFill>
                  <a:srgbClr val="12203A"/>
                </a:solidFill>
                <a:latin typeface="Aptos"/>
              </a:defRPr>
            </a:pPr>
            <a:r>
              <a:t>Sales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233672"/>
            <a:ext cx="4846320" cy="125272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5F6D82"/>
                </a:solidFill>
                <a:latin typeface="Aptos"/>
              </a:defRPr>
            </a:pPr>
            <a:r>
              <a:t>• Record customer purchases and line items</a:t>
            </a:r>
          </a:p>
          <a:p>
            <a:pPr algn="l">
              <a:spcAft>
                <a:spcPts val="800"/>
              </a:spcAft>
              <a:defRPr sz="1400" b="0">
                <a:solidFill>
                  <a:srgbClr val="5F6D82"/>
                </a:solidFill>
                <a:latin typeface="Aptos"/>
              </a:defRPr>
            </a:pPr>
            <a:r>
              <a:t>• Calculate totals and preserve sales history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611880"/>
            <a:ext cx="52120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E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611880"/>
            <a:ext cx="73152" cy="1965960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3776472"/>
            <a:ext cx="4846320" cy="347472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800"/>
              </a:spcAft>
              <a:defRPr sz="1800" b="1">
                <a:solidFill>
                  <a:srgbClr val="12203A"/>
                </a:solidFill>
                <a:latin typeface="Aptos"/>
              </a:defRPr>
            </a:pPr>
            <a:r>
              <a:t>Dashboard &amp; Access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4233672"/>
            <a:ext cx="4846320" cy="125272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5F6D82"/>
                </a:solidFill>
                <a:latin typeface="Aptos"/>
              </a:defRPr>
            </a:pPr>
            <a:r>
              <a:t>• Summarize products, customers, and sales</a:t>
            </a:r>
          </a:p>
          <a:p>
            <a:pPr algn="l">
              <a:spcAft>
                <a:spcPts val="800"/>
              </a:spcAft>
              <a:defRPr sz="1400" b="0">
                <a:solidFill>
                  <a:srgbClr val="5F6D82"/>
                </a:solidFill>
                <a:latin typeface="Aptos"/>
              </a:defRPr>
            </a:pPr>
            <a:r>
              <a:t>• Apply login and permissions if implemented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800"/>
              </a:spcAft>
              <a:defRPr sz="2700" b="1">
                <a:solidFill>
                  <a:srgbClr val="12203A"/>
                </a:solidFill>
                <a:latin typeface="Aptos"/>
              </a:defRPr>
            </a:pPr>
            <a:r>
              <a:t>06  |  System Architecture &amp;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960120"/>
            <a:ext cx="960120" cy="54864"/>
          </a:xfrm>
          <a:prstGeom prst="rect">
            <a:avLst/>
          </a:prstGeom>
          <a:solidFill>
            <a:srgbClr val="23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502920" cy="20116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5F6D82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63040"/>
            <a:ext cx="3063240" cy="1325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6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627632"/>
            <a:ext cx="2843784" cy="29260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2663EB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29968"/>
            <a:ext cx="2843784" cy="56692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>
              <a:spcAft>
                <a:spcPts val="800"/>
              </a:spcAft>
              <a:defRPr sz="1300" b="0">
                <a:solidFill>
                  <a:srgbClr val="232D3E"/>
                </a:solidFill>
                <a:latin typeface="Aptos"/>
              </a:defRPr>
            </a:pPr>
            <a:r>
              <a:t>React.js</a:t>
            </a:r>
          </a:p>
          <a:p>
            <a:pPr algn="ctr">
              <a:spcAft>
                <a:spcPts val="800"/>
              </a:spcAft>
              <a:defRPr sz="1300" b="0">
                <a:solidFill>
                  <a:srgbClr val="232D3E"/>
                </a:solidFill>
                <a:latin typeface="Aptos"/>
              </a:defRPr>
            </a:pPr>
            <a:r>
              <a:t>Forms • Tables • 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463040"/>
            <a:ext cx="3063240" cy="1325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3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1728" y="1627632"/>
            <a:ext cx="2843784" cy="29260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23BEBE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8" y="2029968"/>
            <a:ext cx="2843784" cy="56692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>
              <a:spcAft>
                <a:spcPts val="800"/>
              </a:spcAft>
              <a:defRPr sz="1300" b="0">
                <a:solidFill>
                  <a:srgbClr val="232D3E"/>
                </a:solidFill>
                <a:latin typeface="Aptos"/>
              </a:defRPr>
            </a:pPr>
            <a:r>
              <a:t>Node.js + Express.js</a:t>
            </a:r>
          </a:p>
          <a:p>
            <a:pPr algn="ctr">
              <a:spcAft>
                <a:spcPts val="800"/>
              </a:spcAft>
              <a:defRPr sz="1300" b="0">
                <a:solidFill>
                  <a:srgbClr val="232D3E"/>
                </a:solidFill>
                <a:latin typeface="Aptos"/>
              </a:defRPr>
            </a:pPr>
            <a:r>
              <a:t>REST APIs • Validation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6760" y="1463040"/>
            <a:ext cx="3063240" cy="1325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A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76488" y="1627632"/>
            <a:ext cx="2843784" cy="29260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2DA06E"/>
                </a:solidFill>
                <a:latin typeface="Aptos"/>
              </a:defRPr>
            </a:pPr>
            <a:r>
              <a:t>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6488" y="2029968"/>
            <a:ext cx="2843784" cy="56692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>
              <a:spcAft>
                <a:spcPts val="800"/>
              </a:spcAft>
              <a:defRPr sz="1300" b="0">
                <a:solidFill>
                  <a:srgbClr val="232D3E"/>
                </a:solidFill>
                <a:latin typeface="Aptos"/>
              </a:defRPr>
            </a:pPr>
            <a:r>
              <a:t>MongoDB</a:t>
            </a:r>
          </a:p>
          <a:p>
            <a:pPr algn="ctr">
              <a:spcAft>
                <a:spcPts val="800"/>
              </a:spcAft>
              <a:defRPr sz="1300" b="0">
                <a:solidFill>
                  <a:srgbClr val="232D3E"/>
                </a:solidFill>
                <a:latin typeface="Aptos"/>
              </a:defRPr>
            </a:pPr>
            <a:r>
              <a:t>Products • Customers • Sales</a:t>
            </a:r>
          </a:p>
        </p:txBody>
      </p:sp>
      <p:sp>
        <p:nvSpPr>
          <p:cNvPr id="15" name="Chevron 14"/>
          <p:cNvSpPr/>
          <p:nvPr/>
        </p:nvSpPr>
        <p:spPr>
          <a:xfrm>
            <a:off x="3913632" y="1920240"/>
            <a:ext cx="457200" cy="411480"/>
          </a:xfrm>
          <a:prstGeom prst="chevron">
            <a:avLst/>
          </a:prstGeom>
          <a:solidFill>
            <a:srgbClr val="5F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7708392" y="1920240"/>
            <a:ext cx="457200" cy="411480"/>
          </a:xfrm>
          <a:prstGeom prst="chevron">
            <a:avLst/>
          </a:prstGeom>
          <a:solidFill>
            <a:srgbClr val="5F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337560"/>
            <a:ext cx="10515600" cy="41148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12203A"/>
                </a:solidFill>
                <a:latin typeface="Aptos"/>
              </a:defRPr>
            </a:pPr>
            <a:r>
              <a:t>Request → Validate → Read/Write Data → Return Response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160520"/>
            <a:ext cx="26060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4160520"/>
            <a:ext cx="73152" cy="1417320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4325112"/>
            <a:ext cx="2240280" cy="347472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800"/>
              </a:spcAft>
              <a:defRPr sz="1400" b="1">
                <a:solidFill>
                  <a:srgbClr val="12203A"/>
                </a:solidFill>
                <a:latin typeface="Aptos"/>
              </a:defRPr>
            </a:pPr>
            <a:r>
              <a:t>1. User 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782312"/>
            <a:ext cx="2240280" cy="70408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800"/>
              </a:spcAft>
              <a:defRPr sz="1100" b="0">
                <a:solidFill>
                  <a:srgbClr val="5F6D82"/>
                </a:solidFill>
                <a:latin typeface="Aptos"/>
              </a:defRPr>
            </a:pPr>
            <a:r>
              <a:t>User submits a form or opens a page.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11880" y="4160520"/>
            <a:ext cx="26060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11880" y="4160520"/>
            <a:ext cx="73152" cy="1417320"/>
          </a:xfrm>
          <a:prstGeom prst="rect">
            <a:avLst/>
          </a:prstGeom>
          <a:solidFill>
            <a:srgbClr val="23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13048" y="4325112"/>
            <a:ext cx="2240280" cy="347472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800"/>
              </a:spcAft>
              <a:defRPr sz="1400" b="1">
                <a:solidFill>
                  <a:srgbClr val="12203A"/>
                </a:solidFill>
                <a:latin typeface="Aptos"/>
              </a:defRPr>
            </a:pPr>
            <a:r>
              <a:t>2. API request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13048" y="4782312"/>
            <a:ext cx="2240280" cy="70408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800"/>
              </a:spcAft>
              <a:defRPr sz="1100" b="0">
                <a:solidFill>
                  <a:srgbClr val="5F6D82"/>
                </a:solidFill>
                <a:latin typeface="Aptos"/>
              </a:defRPr>
            </a:pPr>
            <a:r>
              <a:t>React sends an HTTP request.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2240" y="4160520"/>
            <a:ext cx="26060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92240" y="4160520"/>
            <a:ext cx="73152" cy="1417320"/>
          </a:xfrm>
          <a:prstGeom prst="rect">
            <a:avLst/>
          </a:prstGeom>
          <a:solidFill>
            <a:srgbClr val="2D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93407" y="4325112"/>
            <a:ext cx="2240280" cy="347472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800"/>
              </a:spcAft>
              <a:defRPr sz="1400" b="1">
                <a:solidFill>
                  <a:srgbClr val="12203A"/>
                </a:solidFill>
                <a:latin typeface="Aptos"/>
              </a:defRPr>
            </a:pPr>
            <a:r>
              <a:t>3. Database operation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93407" y="4782312"/>
            <a:ext cx="2240280" cy="70408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800"/>
              </a:spcAft>
              <a:defRPr sz="1100" b="0">
                <a:solidFill>
                  <a:srgbClr val="5F6D82"/>
                </a:solidFill>
                <a:latin typeface="Aptos"/>
              </a:defRPr>
            </a:pPr>
            <a:r>
              <a:t>Backend validates and accesses MongoDB.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72600" y="4160520"/>
            <a:ext cx="26060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372600" y="4160520"/>
            <a:ext cx="73152" cy="1417320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73768" y="4325112"/>
            <a:ext cx="2240280" cy="347472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800"/>
              </a:spcAft>
              <a:defRPr sz="1400" b="1">
                <a:solidFill>
                  <a:srgbClr val="12203A"/>
                </a:solidFill>
                <a:latin typeface="Aptos"/>
              </a:defRPr>
            </a:pPr>
            <a:r>
              <a:t>4. UI update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73768" y="4782312"/>
            <a:ext cx="2240280" cy="70408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800"/>
              </a:spcAft>
              <a:defRPr sz="1100" b="0">
                <a:solidFill>
                  <a:srgbClr val="5F6D82"/>
                </a:solidFill>
                <a:latin typeface="Aptos"/>
              </a:defRPr>
            </a:pPr>
            <a:r>
              <a:t>The result is displayed in React.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89920" cy="54864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80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07  |  Expected Results &amp;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143000"/>
            <a:ext cx="960120" cy="54864"/>
          </a:xfrm>
          <a:prstGeom prst="rect">
            <a:avLst/>
          </a:prstGeom>
          <a:solidFill>
            <a:srgbClr val="23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5029200" cy="41148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23BEBE"/>
                </a:solidFill>
                <a:latin typeface="Aptos"/>
              </a:defRPr>
            </a:pPr>
            <a:r>
              <a:t>EXPECTED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5029200" cy="3200400"/>
          </a:xfrm>
          <a:prstGeom prst="rect">
            <a:avLst/>
          </a:prstGeom>
          <a:noFill/>
        </p:spPr>
        <p:txBody>
          <a:bodyPr wrap="square" lIns="54864" rIns="54864" tIns="18288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Centralized business records</a:t>
            </a:r>
          </a:p>
          <a:p>
            <a:pPr>
              <a:spcAft>
                <a:spcPts val="13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Faster product and customer updates</a:t>
            </a:r>
          </a:p>
          <a:p>
            <a:pPr>
              <a:spcAft>
                <a:spcPts val="13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Accurate sales totals and stock changes</a:t>
            </a:r>
          </a:p>
          <a:p>
            <a:pPr>
              <a:spcAft>
                <a:spcPts val="13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Clearer view of business activity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554480"/>
            <a:ext cx="5029200" cy="41148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23BEBE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057400"/>
            <a:ext cx="4800600" cy="192024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The project demonstrates full-stack development through a practical business application, combining a React interface, Express APIs, Node.js logic, and MongoDB storage.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4251960"/>
            <a:ext cx="5029200" cy="32004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800"/>
              </a:spcAft>
              <a:defRPr sz="1500" b="1">
                <a:solidFill>
                  <a:srgbClr val="23BEBE"/>
                </a:solidFill>
                <a:latin typeface="Aptos"/>
              </a:defRPr>
            </a:pPr>
            <a:r>
              <a:t>FUTURE ENHANCEMENTS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4663440"/>
            <a:ext cx="4800600" cy="100584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DAE4F3"/>
                </a:solidFill>
                <a:latin typeface="Aptos"/>
              </a:defRPr>
            </a:pPr>
            <a:r>
              <a:t>PDF invoices • Low-stock alerts • Sales reports • GST support • Online payments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144768"/>
            <a:ext cx="10515600" cy="27432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Small Business Management System Using MERN Stack</dc:title>
  <dc:subject>8-slide college project report</dc:subject>
  <dc:creator>OpenAI</dc:creator>
  <cp:keywords>MERN, MongoDB, Express.js, React.js, Node.js, small business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