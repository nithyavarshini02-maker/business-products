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1828800" cy="1828800"/>
          </a:xfrm>
          <a:prstGeom prst="ellipse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2103120"/>
            <a:ext cx="1143000" cy="1143000"/>
          </a:xfrm>
          <a:prstGeom prst="ellipse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291840"/>
            <a:ext cx="685800" cy="685800"/>
          </a:xfrm>
          <a:prstGeom prst="ellipse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023360"/>
            <a:ext cx="1371600" cy="1371600"/>
          </a:xfrm>
          <a:prstGeom prst="ellipse">
            <a:avLst/>
          </a:prstGeom>
          <a:solidFill>
            <a:srgbClr val="2D4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06640" y="1143000"/>
            <a:ext cx="3794760" cy="4434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417320"/>
            <a:ext cx="30175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233E"/>
                </a:solidFill>
                <a:latin typeface="Aptos"/>
              </a:rPr>
              <a:t>ATTENDANCE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965960"/>
            <a:ext cx="1417320" cy="91440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36407" y="2103120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F6C7D"/>
                </a:solidFill>
                <a:latin typeface="Aptos"/>
              </a:rPr>
              <a:t>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6407" y="2359152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EA0A0"/>
                </a:solidFill>
                <a:latin typeface="Aptos"/>
              </a:rPr>
              <a:t>92%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965960"/>
            <a:ext cx="1417320" cy="914400"/>
          </a:xfrm>
          <a:prstGeom prst="roundRect">
            <a:avLst/>
          </a:prstGeom>
          <a:solidFill>
            <a:srgbClr val="F2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6607" y="2103120"/>
            <a:ext cx="1188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F6C7D"/>
                </a:solidFill>
                <a:latin typeface="Aptos"/>
              </a:rPr>
              <a:t>ABSENT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6607" y="2359152"/>
            <a:ext cx="11887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F4B740"/>
                </a:solidFill>
                <a:latin typeface="Aptos"/>
              </a:rPr>
              <a:t>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24612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233E"/>
                </a:solidFill>
                <a:latin typeface="Aptos"/>
              </a:rPr>
              <a:t>Weekly attendance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4069079"/>
            <a:ext cx="310896" cy="822960"/>
          </a:xfrm>
          <a:prstGeom prst="round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7" y="3794759"/>
            <a:ext cx="310896" cy="1097280"/>
          </a:xfrm>
          <a:prstGeom prst="round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97696" y="4251959"/>
            <a:ext cx="310896" cy="640080"/>
          </a:xfrm>
          <a:prstGeom prst="round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64624" y="3566159"/>
            <a:ext cx="310896" cy="1325880"/>
          </a:xfrm>
          <a:prstGeom prst="round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131552" y="3886200"/>
            <a:ext cx="310896" cy="1005840"/>
          </a:xfrm>
          <a:prstGeom prst="round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1097280"/>
            <a:ext cx="59436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EA0A0"/>
                </a:solidFill>
                <a:latin typeface="Aptos"/>
              </a:rPr>
              <a:t>MERN STACK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1691640"/>
            <a:ext cx="6217920" cy="1600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Smart Student
Attendance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03320"/>
            <a:ext cx="5943600" cy="7772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CE6F3"/>
                </a:solidFill>
                <a:latin typeface="Aptos"/>
              </a:rPr>
              <a:t>A web-based solution to record attendance,
manage academic records, and generate reports.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800600"/>
            <a:ext cx="960120" cy="64008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53035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MongoDB  •  Express.js  •  React.js  •  Node.js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263640"/>
            <a:ext cx="51206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FBED2"/>
                </a:solidFill>
                <a:latin typeface="Aptos"/>
              </a:rPr>
              <a:t>Project Overview &amp;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Aptos"/>
              </a:rPr>
              <a:t>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Digitize the attendance process and reduce manual effort.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C7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406908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4828032" cy="33192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• Paper registers and spreadsheets take time to maintain
• Attendance calculations can be error-prone
• Past records are difficult to search and verify
• Reports require extra manual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73152" cy="406908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01952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59152"/>
            <a:ext cx="4828032" cy="33192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• Centralized digital attendance records
• Manage students, subjects, dates, and status
• Update records with controlled access
• Generate student-wise, subject-wise, and date-based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98932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C68B0"/>
                </a:solidFill>
                <a:latin typeface="Aptos"/>
              </a:rPr>
              <a:t>Goal: make attendance tracking faster, more accurate, searchable, and easier to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Aptos"/>
              </a:rPr>
              <a:t>Objectives &amp; Project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Core deliverables for a practical MERN-stack academic project.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C7D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173736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28620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33E"/>
                </a:solidFill>
                <a:latin typeface="Aptos"/>
              </a:rPr>
              <a:t>MERN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2862072" cy="9875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Connect React UI, Express APIs, Node.js runtime, and MongoDB.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691640"/>
            <a:ext cx="73152" cy="173736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856232"/>
            <a:ext cx="28620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33E"/>
                </a:solidFill>
                <a:latin typeface="Aptos"/>
              </a:rPr>
              <a:t>CRUD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313432"/>
            <a:ext cx="2862072" cy="9875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Create, view, update, and manage students, subjects, and attendance.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69164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691640"/>
            <a:ext cx="73152" cy="17373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1856232"/>
            <a:ext cx="28620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33E"/>
                </a:solidFill>
                <a:latin typeface="Aptos"/>
              </a:rPr>
              <a:t>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313432"/>
            <a:ext cx="2862072" cy="9875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Provide structured endpoints with validation and clear responses.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73736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59352"/>
            <a:ext cx="28620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33E"/>
                </a:solidFill>
                <a:latin typeface="Aptos"/>
              </a:rPr>
              <a:t>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16552"/>
            <a:ext cx="2862072" cy="9875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Secure login and permissions for administrator and teacher roles.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79476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794760"/>
            <a:ext cx="73152" cy="173736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959352"/>
            <a:ext cx="28620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33E"/>
                </a:solidFill>
                <a:latin typeface="Aptos"/>
              </a:rPr>
              <a:t>Attendance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416552"/>
            <a:ext cx="2862072" cy="9875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Filter records and calculate attendance percentages automatically.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794760"/>
            <a:ext cx="32461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3794760"/>
            <a:ext cx="73152" cy="17373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36408" y="3959352"/>
            <a:ext cx="28620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4233E"/>
                </a:solidFill>
                <a:latin typeface="Aptos"/>
              </a:rPr>
              <a:t>Clear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6408" y="4416552"/>
            <a:ext cx="2862072" cy="9875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C"/>
                </a:solidFill>
                <a:latin typeface="Aptos"/>
              </a:rPr>
              <a:t>Dashboard summaries, searchable tables, and readable report views.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Initial scope: manual attendance entry and reporting; QR, biometric, or facial recognition can be future enhancements.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Aptos"/>
              </a:rPr>
              <a:t>System Architecture — MERN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Each layer has a distinct responsibility in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C7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73152" cy="233172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084832"/>
            <a:ext cx="21305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542032"/>
            <a:ext cx="2130552" cy="1581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Frontend UI
Dashboard, forms, tables,
filters,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92024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920240"/>
            <a:ext cx="73152" cy="233172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084832"/>
            <a:ext cx="21305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Express.js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542032"/>
            <a:ext cx="2130552" cy="1581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REST API routes
Request validation,
permissions, responses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920240"/>
            <a:ext cx="25146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73152" cy="233172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084832"/>
            <a:ext cx="21305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Node.js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542032"/>
            <a:ext cx="2130552" cy="1581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Backend runtime
Business logic and
server-side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920240"/>
            <a:ext cx="242316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40" y="1920240"/>
            <a:ext cx="73152" cy="233172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2084832"/>
            <a:ext cx="203911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542032"/>
            <a:ext cx="2039112" cy="1581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Data storage
Students, subjects,
users, 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2788920"/>
            <a:ext cx="2743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2788920"/>
            <a:ext cx="2743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9952" y="2788920"/>
            <a:ext cx="27432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00600"/>
            <a:ext cx="10241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233E"/>
                </a:solidFill>
                <a:latin typeface="Aptos"/>
              </a:rPr>
              <a:t>Typical flow: user action → API request → validation &amp; business rules → database operation → response to React.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86400"/>
            <a:ext cx="104241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Supporting tools: Mongoose (schemas), JWT + bcrypt (authentication), React Router (navigation), Axios/Fetch (API calls).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Aptos"/>
              </a:rPr>
              <a:t>Database Design &amp; Main Records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MongoDB collections store the information needed for attendance tracking.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C7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150876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233E"/>
                </a:solidFill>
                <a:latin typeface="Aptos"/>
              </a:rP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482803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studentId • name • rollNumber • class •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73152" cy="150876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901952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233E"/>
                </a:solidFill>
                <a:latin typeface="Aptos"/>
              </a:rPr>
              <a:t>Subjects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59152"/>
            <a:ext cx="482803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subjectId • subjectCode • subjectName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73152" cy="15087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822191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233E"/>
                </a:solidFill>
                <a:latin typeface="Aptos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279392"/>
            <a:ext cx="482803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studentId • subjectId • date • status • markedBy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65760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657600"/>
            <a:ext cx="73152" cy="150876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3822191"/>
            <a:ext cx="482803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4233E"/>
                </a:solidFill>
                <a:latin typeface="Aptos"/>
              </a:rP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4279392"/>
            <a:ext cx="4828032" cy="7589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name • email • passwordHash • role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42416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Data integrity rules: validate Present/Absent values, reference valid student and subject IDs, and prevent duplicate records for the same student + subject + 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Aptos"/>
              </a:rPr>
              <a:t>Core Features &amp; REST API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APIs connect the React interface with backend logic and MongoDB.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C7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257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73152" cy="434340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487375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4233E"/>
                </a:solidFill>
                <a:latin typeface="Aptos"/>
              </a:rPr>
              <a:t>Main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13432"/>
            <a:ext cx="4873752" cy="359359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32D3C"/>
                </a:solidFill>
                <a:latin typeface="Aptos"/>
              </a:rPr>
              <a:t>• Student and subject management
• Mark attendance as Present / Absent
• View and correct attendance records
• Filter by student, subject, and date
• Daily, monthly, and subject-wise reports
• Login and role-based permissions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5212080" cy="4343400"/>
          </a:xfrm>
          <a:prstGeom prst="roundRect">
            <a:avLst/>
          </a:prstGeom>
          <a:solidFill>
            <a:srgbClr val="14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20240"/>
            <a:ext cx="4663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EA0A0"/>
                </a:solidFill>
                <a:latin typeface="Aptos"/>
              </a:rPr>
              <a:t>EXAMPLE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87168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487168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/api/auth/login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916936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916936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46704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346704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/api/students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76472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776472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/api/students/:id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206240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06240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36008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4636008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65776"/>
            <a:ext cx="8686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4B740"/>
                </a:solidFill>
                <a:latin typeface="Aptos"/>
              </a:rPr>
              <a:t>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5065776"/>
            <a:ext cx="3566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/api/reports/attendance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72200"/>
            <a:ext cx="104241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F6C7D"/>
                </a:solidFill>
                <a:latin typeface="Aptos"/>
              </a:rPr>
              <a:t>Protect write and report endpoints with authentication, authorization, validation, and consistent error handling.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33E"/>
                </a:solidFill>
                <a:latin typeface="Aptos"/>
              </a:rPr>
              <a:t>Reports, Calculations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Turn raw attendance entries into useful academic summaries.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5F6C7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73152" cy="3566160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0906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33E"/>
                </a:solidFill>
                <a:latin typeface="Aptos"/>
              </a:rPr>
              <a:t>Report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9152"/>
            <a:ext cx="3090672" cy="2816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Daily attendance
• Monthly summary
• Student-wise history
• Subject-wise report
• Present / absent lists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7373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737360"/>
            <a:ext cx="73152" cy="3566160"/>
          </a:xfrm>
          <a:prstGeom prst="rect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01952"/>
            <a:ext cx="30906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33E"/>
                </a:solidFill>
                <a:latin typeface="Aptos"/>
              </a:rPr>
              <a:t>Attendance formula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59152"/>
            <a:ext cx="3090672" cy="2816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232D3C"/>
                </a:solidFill>
                <a:latin typeface="Aptos"/>
              </a:rPr>
              <a:t>Attendance % =
(Classes attended ÷
Total classes held) × 100
Example: 36 / 40 × 100
= 90%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73152" cy="3566160"/>
          </a:xfrm>
          <a:prstGeom prst="rect">
            <a:avLst/>
          </a:prstGeom>
          <a:solidFill>
            <a:srgbClr val="F4B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01952"/>
            <a:ext cx="3090672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233E"/>
                </a:solidFill>
                <a:latin typeface="Aptos"/>
              </a:rPr>
              <a:t>Security &amp; integrity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359152"/>
            <a:ext cx="3090672" cy="28163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32D3C"/>
                </a:solidFill>
                <a:latin typeface="Aptos"/>
              </a:rPr>
              <a:t>• Hash passwords
• Enforce roles on server
• Restrict teacher access
• Prevent duplicate entries
• Track who changed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6928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F6C7D"/>
                </a:solidFill>
                <a:latin typeface="Aptos"/>
              </a:rPr>
              <a:t>Important: report only finalized attendance sessions, and handle missing records separately from zero attendance.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Implementation Workflow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822960" cy="54864"/>
          </a:xfrm>
          <a:prstGeom prst="rect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1288" y="1600200"/>
            <a:ext cx="502920" cy="502920"/>
          </a:xfrm>
          <a:prstGeom prst="ellipse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1288" y="1682496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" y="2697480"/>
            <a:ext cx="1737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CD8E8"/>
                </a:solidFill>
                <a:latin typeface="Aptos"/>
              </a:rPr>
              <a:t>Requirements &amp; schema</a:t>
            </a:r>
          </a:p>
        </p:txBody>
      </p:sp>
      <p:sp>
        <p:nvSpPr>
          <p:cNvPr id="8" name="Oval 7"/>
          <p:cNvSpPr/>
          <p:nvPr/>
        </p:nvSpPr>
        <p:spPr>
          <a:xfrm>
            <a:off x="3063240" y="1600200"/>
            <a:ext cx="502920" cy="502920"/>
          </a:xfrm>
          <a:prstGeom prst="ellipse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682496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286000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Build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2697480"/>
            <a:ext cx="1737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CD8E8"/>
                </a:solidFill>
                <a:latin typeface="Aptos"/>
              </a:rPr>
              <a:t>CRUD &amp; validation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4965192" y="1600200"/>
            <a:ext cx="502920" cy="502920"/>
          </a:xfrm>
          <a:prstGeom prst="ellipse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682496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286000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Secure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697480"/>
            <a:ext cx="1737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CD8E8"/>
                </a:solidFill>
                <a:latin typeface="Aptos"/>
              </a:rPr>
              <a:t>Login &amp; role access</a:t>
            </a:r>
          </a:p>
        </p:txBody>
      </p:sp>
      <p:sp>
        <p:nvSpPr>
          <p:cNvPr id="16" name="Oval 15"/>
          <p:cNvSpPr/>
          <p:nvPr/>
        </p:nvSpPr>
        <p:spPr>
          <a:xfrm>
            <a:off x="6867144" y="1600200"/>
            <a:ext cx="502920" cy="502920"/>
          </a:xfrm>
          <a:prstGeom prst="ellipse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67144" y="1682496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286000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Build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697480"/>
            <a:ext cx="1737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CD8E8"/>
                </a:solidFill>
                <a:latin typeface="Aptos"/>
              </a:rPr>
              <a:t>Dashboard &amp; forms</a:t>
            </a:r>
          </a:p>
        </p:txBody>
      </p:sp>
      <p:sp>
        <p:nvSpPr>
          <p:cNvPr id="20" name="Oval 19"/>
          <p:cNvSpPr/>
          <p:nvPr/>
        </p:nvSpPr>
        <p:spPr>
          <a:xfrm>
            <a:off x="8769096" y="1600200"/>
            <a:ext cx="502920" cy="502920"/>
          </a:xfrm>
          <a:prstGeom prst="ellipse">
            <a:avLst/>
          </a:prstGeom>
          <a:solidFill>
            <a:srgbClr val="1E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69096" y="1682496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286000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97480"/>
            <a:ext cx="1737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CD8E8"/>
                </a:solidFill>
                <a:latin typeface="Aptos"/>
              </a:rPr>
              <a:t>Filters &amp; percentages</a:t>
            </a:r>
          </a:p>
        </p:txBody>
      </p:sp>
      <p:sp>
        <p:nvSpPr>
          <p:cNvPr id="24" name="Oval 23"/>
          <p:cNvSpPr/>
          <p:nvPr/>
        </p:nvSpPr>
        <p:spPr>
          <a:xfrm>
            <a:off x="10671048" y="1600200"/>
            <a:ext cx="502920" cy="502920"/>
          </a:xfrm>
          <a:prstGeom prst="ellipse">
            <a:avLst/>
          </a:prstGeom>
          <a:solidFill>
            <a:srgbClr val="2C6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1048" y="1682496"/>
            <a:ext cx="502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286000"/>
            <a:ext cx="1508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5832" y="2697480"/>
            <a:ext cx="173736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CCD8E8"/>
                </a:solidFill>
                <a:latin typeface="Aptos"/>
              </a:rPr>
              <a:t>Accuracy &amp; 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886200"/>
            <a:ext cx="10652760" cy="1600200"/>
          </a:xfrm>
          <a:prstGeom prst="roundRect">
            <a:avLst/>
          </a:prstGeom>
          <a:solidFill>
            <a:srgbClr val="1F3352"/>
          </a:solidFill>
          <a:ln>
            <a:solidFill>
              <a:srgbClr val="3A50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160520"/>
            <a:ext cx="996696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EA0A0"/>
                </a:solidFill>
                <a:latin typeface="Aptos"/>
              </a:rPr>
              <a:t>Expected 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17720"/>
            <a:ext cx="996696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 secure, centralized attendance application that reduces manual effort, supports accurate CRUD operations, and generates clear attendance reports.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80760"/>
            <a:ext cx="1042416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B9C8DC"/>
                </a:solidFill>
                <a:latin typeface="Aptos"/>
              </a:rPr>
              <a:t>Key success factors: data accuracy • duplicate prevention • role-based access • reliable report calculations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50292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9C8D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Student Attendance System</dc:title>
  <dc:subject>MERN stack project overview and analysis</dc:subject>
  <dc:creator>OpenAI</dc:creator>
  <cp:keywords>MERN, student attendance, MongoDB, React, Express, Node.js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